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Cite: primary-care T2D cohort, non-intensive therapy, 3-month HbA1c and TIR data. ADA position on CGM standard-of-care applies most directly to insulin-intensive patients.</a:t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0847A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0847A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777240"/>
            <a:ext cx="658368" cy="658368"/>
          </a:xfrm>
          <a:prstGeom prst="ellipse">
            <a:avLst/>
          </a:prstGeom>
          <a:solidFill>
            <a:srgbClr val="0F5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93" y="925373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822960" y="26060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GLUCOSENSE PRO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3A9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5FB3A9"/>
                </a:solidFill>
                <a:latin typeface="Calibri"/>
                <a:ea typeface="Calibri"/>
                <a:cs typeface="Calibri"/>
                <a:sym typeface="Calibri"/>
              </a:rPr>
              <a:t>Continuous Glucose Monitoring — A Clinical Introduction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8BE"/>
                </a:solidFill>
                <a:latin typeface="Calibri"/>
                <a:ea typeface="Calibri"/>
                <a:cs typeface="Calibri"/>
                <a:sym typeface="Calibri"/>
              </a:rPr>
              <a:t>Prepared for practice partners  |  T. Hlongwane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4F6C"/>
                </a:solidFill>
                <a:latin typeface="Cambria"/>
                <a:ea typeface="Cambria"/>
                <a:cs typeface="Cambria"/>
                <a:sym typeface="Cambria"/>
              </a:rPr>
              <a:t>The Gap Fingerstick Testing Leaves Behind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554480"/>
            <a:ext cx="3454298" cy="4206240"/>
          </a:xfrm>
          <a:prstGeom prst="roundRect">
            <a:avLst>
              <a:gd fmla="val 3177" name="adj"/>
            </a:avLst>
          </a:prstGeom>
          <a:solidFill>
            <a:srgbClr val="F4F7F7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" y="2114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868680" y="2880360"/>
            <a:ext cx="2814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Isolated Points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68680" y="3337560"/>
            <a:ext cx="281421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fingerstick captures glucose at one instant. It cannot show direction, speed of change, or what happened an hour ago.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368698" y="1554480"/>
            <a:ext cx="3454298" cy="4206240"/>
          </a:xfrm>
          <a:prstGeom prst="roundRect">
            <a:avLst>
              <a:gd fmla="val 3177" name="adj"/>
            </a:avLst>
          </a:prstGeom>
          <a:solidFill>
            <a:srgbClr val="F4F7F7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734458" y="1920240"/>
            <a:ext cx="777240" cy="77724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8768" y="2114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4688738" y="2880360"/>
            <a:ext cx="2814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Blind Overnight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688738" y="3337560"/>
            <a:ext cx="281421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Nocturnal and post-prandial excursions are the events patients and clinicians are most likely to miss entirely.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188757" y="1554480"/>
            <a:ext cx="3454298" cy="4206240"/>
          </a:xfrm>
          <a:prstGeom prst="roundRect">
            <a:avLst>
              <a:gd fmla="val 3177" name="adj"/>
            </a:avLst>
          </a:prstGeom>
          <a:solidFill>
            <a:srgbClr val="F4F7F7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554517" y="1920240"/>
            <a:ext cx="777240" cy="77724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8827" y="2114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8508797" y="2880360"/>
            <a:ext cx="2814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Targets Missed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508797" y="3337560"/>
            <a:ext cx="2814218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Roughly half of Type 2 Diabetes patients fail to reach HbA1c targets under standard point-in-time monitoring.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4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847A"/>
                </a:solidFill>
                <a:latin typeface="Calibri"/>
                <a:ea typeface="Calibri"/>
                <a:cs typeface="Calibri"/>
                <a:sym typeface="Calibri"/>
              </a:rPr>
              <a:t>Continuous glucose monitoring closes this gap with a full trend line, not a snapshot.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4F6C"/>
                </a:solidFill>
                <a:latin typeface="Cambria"/>
                <a:ea typeface="Cambria"/>
                <a:cs typeface="Cambria"/>
                <a:sym typeface="Cambria"/>
              </a:rPr>
              <a:t>The Device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05156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factory-calibrated CGM built to remove friction from daily monitoring.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1691640"/>
            <a:ext cx="6309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GlucoSense Pro wears for 14 days, requires no fingerstick calibration, and measures interstitial glucose through a hair-thin filament roughly every minute — streaming continuous data with directional trend arrows to a paired app or reader.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3531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188720" y="3410712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14-day sensor wear, factory-calibrated — no fingerstick required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" y="42176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1188720" y="4096512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Real-time trend arrows show rate-of-change, not just a point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49034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188720" y="4782312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Accuracy (MARD) of approximately 10%, in line with leading CGMs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406640" y="1691640"/>
            <a:ext cx="4206240" cy="4023360"/>
          </a:xfrm>
          <a:prstGeom prst="roundRect">
            <a:avLst>
              <a:gd fmla="val 2727" name="adj"/>
            </a:avLst>
          </a:prstGeom>
          <a:solidFill>
            <a:srgbClr val="0B4F6C"/>
          </a:solidFill>
          <a:ln>
            <a:noFill/>
          </a:ln>
          <a:effectLst>
            <a:outerShdw blurRad="127000" rotWithShape="0" algn="bl" dir="54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406640" y="201168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mbria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406640" y="2880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B3A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B3A9"/>
                </a:solidFill>
                <a:latin typeface="Calibri"/>
                <a:ea typeface="Calibri"/>
                <a:cs typeface="Calibri"/>
                <a:sym typeface="Calibri"/>
              </a:rPr>
              <a:t>DAYS PER SENSOR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7955280" y="3474720"/>
            <a:ext cx="3108960" cy="0"/>
          </a:xfrm>
          <a:prstGeom prst="straightConnector1">
            <a:avLst/>
          </a:prstGeom>
          <a:noFill/>
          <a:ln cap="flat" cmpd="sng" w="12700">
            <a:solidFill>
              <a:srgbClr val="1E6E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/>
          <p:nvPr/>
        </p:nvSpPr>
        <p:spPr>
          <a:xfrm>
            <a:off x="7406640" y="36576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~1 min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406640" y="42519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B3A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B3A9"/>
                </a:solidFill>
                <a:latin typeface="Calibri"/>
                <a:ea typeface="Calibri"/>
                <a:cs typeface="Calibri"/>
                <a:sym typeface="Calibri"/>
              </a:rPr>
              <a:t>READING INTERVAL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7955280" y="4800600"/>
            <a:ext cx="3108960" cy="0"/>
          </a:xfrm>
          <a:prstGeom prst="straightConnector1">
            <a:avLst/>
          </a:prstGeom>
          <a:noFill/>
          <a:ln cap="flat" cmpd="sng" w="12700">
            <a:solidFill>
              <a:srgbClr val="1E6E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7406640" y="493776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~10% MARD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406640" y="54406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B3A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B3A9"/>
                </a:solidFill>
                <a:latin typeface="Calibri"/>
                <a:ea typeface="Calibri"/>
                <a:cs typeface="Calibri"/>
                <a:sym typeface="Calibri"/>
              </a:rPr>
              <a:t>CLINICALLY ACCEPTABLE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4F6C"/>
                </a:solidFill>
                <a:latin typeface="Cambria"/>
                <a:ea typeface="Cambria"/>
                <a:cs typeface="Cambria"/>
                <a:sym typeface="Cambria"/>
              </a:rPr>
              <a:t>The Evidence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Primary-care Type 2 Diabetes population, non-intensive therapy, 3-month follow-up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37360"/>
            <a:ext cx="51206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6035040" y="1737360"/>
            <a:ext cx="5577840" cy="1600200"/>
          </a:xfrm>
          <a:prstGeom prst="roundRect">
            <a:avLst>
              <a:gd fmla="val 5714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355080" y="1737360"/>
            <a:ext cx="4937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F6C"/>
                </a:solidFill>
                <a:latin typeface="Cambria"/>
                <a:ea typeface="Cambria"/>
                <a:cs typeface="Cambria"/>
                <a:sym typeface="Cambria"/>
              </a:rPr>
              <a:t>−0.62%  </a:t>
            </a:r>
            <a:r>
              <a:rPr b="0" i="0" lang="en-US" sz="130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HbA1c reduction vs. matched controls (p&lt;0.01)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035040" y="3520440"/>
            <a:ext cx="5577840" cy="1783080"/>
          </a:xfrm>
          <a:prstGeom prst="roundRect">
            <a:avLst>
              <a:gd fmla="val 5128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309360" y="3749040"/>
            <a:ext cx="502920" cy="50292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2517" y="386219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6995160" y="3611880"/>
            <a:ext cx="4297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CGM is recognised by the American Diabetes Association as standard of care for patients on multiple daily insulin injections or insulin pumps, with growing evidence supporting benefit in non-insulin-intensive Type 2 patients managed in primary care.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4F6C"/>
                </a:solidFill>
                <a:latin typeface="Cambria"/>
                <a:ea typeface="Cambria"/>
                <a:cs typeface="Cambria"/>
                <a:sym typeface="Cambria"/>
              </a:rPr>
              <a:t>Who It Fits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fmla="val 6452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" y="220599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1965960" y="187452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Primary Care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846320" y="1874520"/>
            <a:ext cx="652241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T2D patients on basal insulin or oral agents who are missing HbA1c targets under standard monitoring.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3429000"/>
            <a:ext cx="11094415" cy="1417320"/>
          </a:xfrm>
          <a:prstGeom prst="roundRect">
            <a:avLst>
              <a:gd fmla="val 6452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914400" y="3749040"/>
            <a:ext cx="777240" cy="77724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710" y="39433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/>
          <p:nvPr/>
        </p:nvSpPr>
        <p:spPr>
          <a:xfrm>
            <a:off x="1965960" y="361188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Endocrinology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846320" y="3611880"/>
            <a:ext cx="652241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T1D and insulin-pump patients — the population where CGM is already recognised as standard of care.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48640" y="5166360"/>
            <a:ext cx="11094415" cy="1417320"/>
          </a:xfrm>
          <a:prstGeom prst="roundRect">
            <a:avLst>
              <a:gd fmla="val 6452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914400" y="5486400"/>
            <a:ext cx="777240" cy="77724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8710" y="5680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1965960" y="534924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Diabetes Educators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846320" y="5349240"/>
            <a:ext cx="652241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B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2E"/>
                </a:solidFill>
                <a:latin typeface="Calibri"/>
                <a:ea typeface="Calibri"/>
                <a:cs typeface="Calibri"/>
                <a:sym typeface="Calibri"/>
              </a:rPr>
              <a:t>The practical point of contact for onboarding, troubleshooting, and sustaining day-to-day patient use.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4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0847A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Honest 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822960" y="1783080"/>
            <a:ext cx="10515600" cy="2286000"/>
          </a:xfrm>
          <a:prstGeom prst="roundRect">
            <a:avLst>
              <a:gd fmla="val 4800" name="adj"/>
            </a:avLst>
          </a:prstGeom>
          <a:solidFill>
            <a:srgbClr val="0F5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1280160" y="1783080"/>
            <a:ext cx="9601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CGM adds the most value for patients on insulin or with unstable control. For well-controlled patients on minimal therapy, standard monitoring may remain appropriate — we'd rather flag that plainly than oversell the indication.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22960" y="44348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3A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FB3A9"/>
                </a:solidFill>
                <a:latin typeface="Calibri"/>
                <a:ea typeface="Calibri"/>
                <a:cs typeface="Calibri"/>
                <a:sym typeface="Calibri"/>
              </a:rPr>
              <a:t>Why we lead with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22960" y="489204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8E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6E8E6"/>
                </a:solidFill>
                <a:latin typeface="Calibri"/>
                <a:ea typeface="Calibri"/>
                <a:cs typeface="Calibri"/>
                <a:sym typeface="Calibri"/>
              </a:rPr>
              <a:t>Trust is the actual sales cycle in clinical settings — accurate framing earns repeat scripts.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D6E8E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6E8E6"/>
                </a:solidFill>
                <a:latin typeface="Calibri"/>
                <a:ea typeface="Calibri"/>
                <a:cs typeface="Calibri"/>
                <a:sym typeface="Calibri"/>
              </a:rPr>
              <a:t>A device recommended for the right patient is one clinicians keep prescribing.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D6E8E6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D6E8E6"/>
                </a:solidFill>
                <a:latin typeface="Calibri"/>
                <a:ea typeface="Calibri"/>
                <a:cs typeface="Calibri"/>
                <a:sym typeface="Calibri"/>
              </a:rPr>
              <a:t>Clear indications reduce early abandonment and protect long-term adoption.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4F6C"/>
                </a:solidFill>
                <a:latin typeface="Cambria"/>
                <a:ea typeface="Cambria"/>
                <a:cs typeface="Cambria"/>
                <a:sym typeface="Cambria"/>
              </a:rPr>
              <a:t>Meeting the Objections Head-On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Five recurring clinician concerns, and the process behind each answer — full scripts available on request.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48640" y="1691640"/>
            <a:ext cx="5364328" cy="914400"/>
          </a:xfrm>
          <a:prstGeom prst="roundRect">
            <a:avLst>
              <a:gd fmla="val 8000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8" y="20231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1371600" y="1764792"/>
            <a:ext cx="435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Will this get reimbursed?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1371600" y="2112264"/>
            <a:ext cx="435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point-of-prescription coverage check, plus bridging supply during approval.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48640" y="2770632"/>
            <a:ext cx="5364328" cy="914400"/>
          </a:xfrm>
          <a:prstGeom prst="roundRect">
            <a:avLst>
              <a:gd fmla="val 8000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749808" y="2999232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8" y="31021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1371600" y="2843784"/>
            <a:ext cx="435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My staff can't take on training.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1371600" y="3191256"/>
            <a:ext cx="435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One 20-minute session, then an in-app walkthrough handles most patient questions.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640" y="3849624"/>
            <a:ext cx="5364328" cy="914400"/>
          </a:xfrm>
          <a:prstGeom prst="roundRect">
            <a:avLst>
              <a:gd fmla="val 8000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749808" y="407822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8" y="418109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1371600" y="3922776"/>
            <a:ext cx="435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We already use a competitor CGM.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371600" y="4270248"/>
            <a:ext cx="435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Trial it on your next new script, run it alongside your current device, compare directly.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278728" y="1691640"/>
            <a:ext cx="5364328" cy="914400"/>
          </a:xfrm>
          <a:prstGeom prst="roundRect">
            <a:avLst>
              <a:gd fmla="val 8000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6479896" y="192024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766" y="20231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/>
          <p:nvPr/>
        </p:nvSpPr>
        <p:spPr>
          <a:xfrm>
            <a:off x="7101688" y="1764792"/>
            <a:ext cx="435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Is the accuracy good enough to act on?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101688" y="2112264"/>
            <a:ext cx="435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~10% MARD, factory-calibrated, no fingerstick-dependent drift over 14 days.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278728" y="2770632"/>
            <a:ext cx="5364328" cy="914400"/>
          </a:xfrm>
          <a:prstGeom prst="roundRect">
            <a:avLst>
              <a:gd fmla="val 8000" name="adj"/>
            </a:avLst>
          </a:prstGeom>
          <a:solidFill>
            <a:srgbClr val="F4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6479896" y="2999232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766" y="31021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7101688" y="2843784"/>
            <a:ext cx="435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Will patients keep using it?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7101688" y="3191256"/>
            <a:ext cx="4358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Structured first-two-weeks check-in drives materially higher continued-use rates.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4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00847A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822960" y="822960"/>
            <a:ext cx="658368" cy="658368"/>
          </a:xfrm>
          <a:prstGeom prst="ellipse">
            <a:avLst/>
          </a:prstGeom>
          <a:solidFill>
            <a:srgbClr val="0F5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093" y="971093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822960" y="246888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Start Small, Compare Directly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822960" y="3291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8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6E8E6"/>
                </a:solidFill>
                <a:latin typeface="Calibri"/>
                <a:ea typeface="Calibri"/>
                <a:cs typeface="Calibri"/>
                <a:sym typeface="Calibri"/>
              </a:rPr>
              <a:t>Trial GlucoSense Pro on your next eligible script. No panel switch required — just a direct, one-cycle comparison on accuracy and patient experience.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10"/>
          <p:cNvCxnSpPr/>
          <p:nvPr/>
        </p:nvCxnSpPr>
        <p:spPr>
          <a:xfrm>
            <a:off x="822960" y="4572000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1E6E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0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8BE"/>
                </a:solidFill>
                <a:latin typeface="Calibri"/>
                <a:ea typeface="Calibri"/>
                <a:cs typeface="Calibri"/>
                <a:sym typeface="Calibri"/>
              </a:rPr>
              <a:t>Prepared by T. Hlongwane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